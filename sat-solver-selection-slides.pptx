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149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defRPr sz="4600" b="1" i="0">
                <a:solidFill>
                  <a:srgbClr val="FFFFFF"/>
                </a:solidFill>
                <a:latin typeface="Calibri Light"/>
              </a:defRPr>
            </a:pPr>
            <a:r>
              <a:t>Machine-Learned Algorithm Selection</a:t>
            </a:r>
          </a:p>
          <a:p>
            <a:pPr algn="l">
              <a:lnSpc>
                <a:spcPct val="112000"/>
              </a:lnSpc>
              <a:defRPr sz="4600" b="1" i="0">
                <a:solidFill>
                  <a:srgbClr val="FFFFFF"/>
                </a:solidFill>
                <a:latin typeface="Calibri Light"/>
              </a:defRPr>
            </a:pPr>
            <a:r>
              <a:t>for Boolean Satisfiability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767328"/>
            <a:ext cx="1737360" cy="45720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041648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0" i="1">
                <a:solidFill>
                  <a:srgbClr val="B8CCE0"/>
                </a:solidFill>
                <a:latin typeface="Calibri"/>
              </a:defRPr>
            </a:pPr>
            <a:r>
              <a:t>An empirical evaluation on a 2,299-instance corpus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Ansh Jaiswal   ·   Lakshit Verma   ·   Aryendra Pandey   ·   Priyanshu Sharma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321808"/>
            <a:ext cx="10149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300" b="0" i="0">
                <a:solidFill>
                  <a:srgbClr val="8FA8C0"/>
                </a:solidFill>
                <a:latin typeface="Calibri"/>
              </a:defRPr>
            </a:pPr>
            <a:r>
              <a:t>Manipal Institute of Technology, Manipal Academy of Higher Education</a:t>
            </a:r>
          </a:p>
          <a:p>
            <a:pPr algn="l">
              <a:lnSpc>
                <a:spcPct val="125000"/>
              </a:lnSpc>
              <a:defRPr sz="1300" b="0" i="0">
                <a:solidFill>
                  <a:srgbClr val="8FA8C0"/>
                </a:solidFill>
                <a:latin typeface="Calibri"/>
              </a:defRPr>
            </a:pPr>
            <a:r>
              <a:t>30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The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3000" b="0" i="0">
                <a:solidFill>
                  <a:srgbClr val="1C1C1C"/>
                </a:solidFill>
                <a:latin typeface="Calibri Light"/>
              </a:defRPr>
            </a:pPr>
            <a:r>
              <a:t>Different SAT solvers are fastest on different formulas.</a:t>
            </a:r>
          </a:p>
          <a:p>
            <a:pPr algn="l">
              <a:lnSpc>
                <a:spcPct val="125000"/>
              </a:lnSpc>
              <a:defRPr sz="3000" b="0" i="0">
                <a:solidFill>
                  <a:srgbClr val="1C1C1C"/>
                </a:solidFill>
                <a:latin typeface="Calibri Light"/>
              </a:defRPr>
            </a:pPr>
            <a:r>
              <a:t>Can we predict which one to run, per instance, and win?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041648"/>
            <a:ext cx="54864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397763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5B8DB8"/>
                </a:solidFill>
                <a:latin typeface="Calibri"/>
              </a:defRPr>
            </a:pPr>
            <a:r>
              <a:t>Must beat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3977639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the single best solver, run on everything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700016"/>
            <a:ext cx="54864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636007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5B8DB8"/>
                </a:solidFill>
                <a:latin typeface="Calibri"/>
              </a:defRPr>
            </a:pPr>
            <a:r>
              <a:t>Must beat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636007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random choice from the portfolio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358383"/>
            <a:ext cx="54864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294375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5B8DB8"/>
                </a:solidFill>
                <a:latin typeface="Calibri"/>
              </a:defRPr>
            </a:pPr>
            <a:r>
              <a:t>Must 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294375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SATzilla-style runtime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05332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54606B"/>
                </a:solidFill>
                <a:latin typeface="Calibri"/>
              </a:defRPr>
            </a:pPr>
            <a:r>
              <a:t>Scored on PAR-2: mean runtime, with a timeout charged at twice the time limit. Lower is better. Feature-extraction cost is charged to the selector.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237744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2377440" cy="64008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50592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5B8DB8"/>
                </a:solidFill>
                <a:latin typeface="Calibri Light"/>
              </a:defRPr>
            </a:pPr>
            <a:r>
              <a:t>2,299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C1C1C"/>
                </a:solidFill>
                <a:latin typeface="Calibri"/>
              </a:defRPr>
            </a:pPr>
            <a:r>
              <a:t>formulas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8 families, 20% real</a:t>
            </a:r>
          </a:p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benchmarks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48840"/>
            <a:ext cx="237744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2148840"/>
            <a:ext cx="2377440" cy="64008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450592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16385A"/>
                </a:solidFill>
                <a:latin typeface="Calibri Light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C1C1C"/>
                </a:solidFill>
                <a:latin typeface="Calibri"/>
              </a:defRPr>
            </a:pPr>
            <a:r>
              <a:t>CDCL solvers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each run 3× on every</a:t>
            </a:r>
          </a:p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formula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48840"/>
            <a:ext cx="237744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48840"/>
            <a:ext cx="2377440" cy="64008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50592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C98A26"/>
                </a:solidFill>
                <a:latin typeface="Calibri Light"/>
              </a:defRPr>
            </a:pPr>
            <a:r>
              <a:t>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C1C1C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syntactic, graph,</a:t>
            </a:r>
          </a:p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probing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48840"/>
            <a:ext cx="2377440" cy="2286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148840"/>
            <a:ext cx="2377440" cy="64008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2450592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4400" b="1" i="0">
                <a:solidFill>
                  <a:srgbClr val="3F7D5C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2461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600" b="1" i="0">
                <a:solidFill>
                  <a:srgbClr val="1C1C1C"/>
                </a:solidFill>
                <a:latin typeface="Calibri"/>
              </a:defRPr>
            </a:pPr>
            <a:r>
              <a:t>selectors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611880"/>
            <a:ext cx="2011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graph network, SATzilla-</a:t>
            </a:r>
          </a:p>
          <a:p>
            <a:pPr algn="l">
              <a:lnSpc>
                <a:spcPct val="120000"/>
              </a:lnSpc>
              <a:defRPr sz="1250" b="0" i="0">
                <a:solidFill>
                  <a:srgbClr val="54606B"/>
                </a:solidFill>
                <a:latin typeface="Calibri"/>
              </a:defRPr>
            </a:pPr>
            <a:r>
              <a:t>style, classical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 i="0">
                <a:solidFill>
                  <a:srgbClr val="1C1C1C"/>
                </a:solidFill>
                <a:latin typeface="Calibri"/>
              </a:defRPr>
            </a:pPr>
            <a:r>
              <a:t>Protocol fixed before any model was fitted: 70/15/15 cluster-safe splits, one family held out entirely, 10,000-resample stratified bootstrap, Holm–Bonferroni correction across four planned comparisons.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Result: no selector beat one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virtual best (oracle)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4760" y="2084831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4760" y="2084831"/>
            <a:ext cx="2897385" cy="347472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2912" y="210312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54606B"/>
                </a:solidFill>
                <a:latin typeface="Calibri"/>
              </a:defRPr>
            </a:pPr>
            <a:r>
              <a:t>5.770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9191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1" i="0">
                <a:solidFill>
                  <a:srgbClr val="1C1C1C"/>
                </a:solidFill>
                <a:latin typeface="Calibri"/>
              </a:defRPr>
            </a:pPr>
            <a:r>
              <a:t>best single solver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94760" y="2660903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94760" y="2660903"/>
            <a:ext cx="3179730" cy="347472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2679191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6.333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SATzilla-style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3236976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4760" y="3236976"/>
            <a:ext cx="3813444" cy="347472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325526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54606B"/>
                </a:solidFill>
                <a:latin typeface="Calibri"/>
              </a:defRPr>
            </a:pPr>
            <a:r>
              <a:t>7.595 s   (+20%)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31335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1" i="0">
                <a:solidFill>
                  <a:srgbClr val="1C1C1C"/>
                </a:solidFill>
                <a:latin typeface="Calibri"/>
              </a:defRPr>
            </a:pPr>
            <a:r>
              <a:t>graph network (ours)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3813048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4760" y="3813048"/>
            <a:ext cx="3816678" cy="347472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3831335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1C1C1C"/>
                </a:solidFill>
                <a:latin typeface="Calibri"/>
              </a:defRPr>
            </a:pPr>
            <a:r>
              <a:t>7.601 s   (+20%)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07407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random choice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4389120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94760" y="4389120"/>
            <a:ext cx="4661581" cy="347472"/>
          </a:xfrm>
          <a:prstGeom prst="rect">
            <a:avLst/>
          </a:prstGeom>
          <a:solidFill>
            <a:srgbClr val="9AA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912" y="44074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54606B"/>
                </a:solidFill>
                <a:latin typeface="Calibri"/>
              </a:defRPr>
            </a:pPr>
            <a:r>
              <a:t>9.284 s   (+47%)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7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classical classifier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4965192"/>
            <a:ext cx="5623560" cy="347472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94760" y="4965192"/>
            <a:ext cx="5517987" cy="347472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82912" y="4983479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0" i="0">
                <a:solidFill>
                  <a:srgbClr val="54606B"/>
                </a:solidFill>
                <a:latin typeface="Calibri"/>
              </a:defRPr>
            </a:pPr>
            <a:r>
              <a:t>10.990 s   (+74%)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623560"/>
            <a:ext cx="10607040" cy="41148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521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 i="0">
                <a:solidFill>
                  <a:srgbClr val="1C1C1C"/>
                </a:solidFill>
                <a:latin typeface="Calibri"/>
              </a:defRPr>
            </a:pPr>
            <a:r>
              <a:t>Always running cadical153 scored 6.333 s.  Our graph network scored 7.601 s — 20% worse, and significant after correction (p = 0.0114).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FOUR PLANNED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What the statistics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4825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048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04825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p-VALUE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2048256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59152"/>
            <a:ext cx="10607040" cy="27432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42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C1C1C"/>
                </a:solidFill>
                <a:latin typeface="Calibri"/>
              </a:defRPr>
            </a:pPr>
            <a:r>
              <a:t>Ours vs. best single solver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54203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+1.269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42032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p = 0.0114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542032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A63D40"/>
                </a:solidFill>
                <a:latin typeface="Calibri"/>
              </a:defRPr>
            </a:pPr>
            <a:r>
              <a:t>Significantly worse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17520"/>
            <a:ext cx="10607040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55263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Ours vs. SATzilla-style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255263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+0.006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255263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p = 0.93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55263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54606B"/>
                </a:solidFill>
                <a:latin typeface="Calibri"/>
              </a:defRPr>
            </a:pPr>
            <a:r>
              <a:t>No difference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730752"/>
            <a:ext cx="10607040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6849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Ours vs. random choice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96849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-1.683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684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p = 0.053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968496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54606B"/>
                </a:solidFill>
                <a:latin typeface="Calibri"/>
              </a:defRPr>
            </a:pPr>
            <a:r>
              <a:t>Not separable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43983"/>
            <a:ext cx="10607040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681727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Classical vs. best single solver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4681727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+4.657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4681727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700" b="0" i="0">
                <a:solidFill>
                  <a:srgbClr val="1C1C1C"/>
                </a:solidFill>
                <a:latin typeface="Calibri"/>
              </a:defRPr>
            </a:pPr>
            <a:r>
              <a:t>p &lt; 0.0001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681727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A63D40"/>
                </a:solidFill>
                <a:latin typeface="Calibri"/>
              </a:defRPr>
            </a:pPr>
            <a:r>
              <a:t>Significantly worse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157215"/>
            <a:ext cx="10607040" cy="10972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623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 i="0">
                <a:solidFill>
                  <a:srgbClr val="1C1C1C"/>
                </a:solidFill>
                <a:latin typeface="Calibri"/>
              </a:defRPr>
            </a:pPr>
            <a:r>
              <a:t>A positive difference means slower. Our selector and the SATzilla-style baseline are statistically indistinguishable — two unrelated methods landing in the same place.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DIAGNOSIS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Why: there was almost nothing to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3246120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94560"/>
            <a:ext cx="64008" cy="2514600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5200" b="1" i="0">
                <a:solidFill>
                  <a:srgbClr val="A63D40"/>
                </a:solidFill>
                <a:latin typeface="Calibri Light"/>
              </a:defRPr>
            </a:pPr>
            <a:r>
              <a:t>8.88%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C1C1C"/>
                </a:solidFill>
                <a:latin typeface="Calibri"/>
              </a:defRPr>
            </a:pPr>
            <a:r>
              <a:t>total oracle headroom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136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A perfect selector with free</a:t>
            </a:r>
          </a:p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features gains only this much.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3246120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64008" cy="2514600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25146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5200" b="1" i="0">
                <a:solidFill>
                  <a:srgbClr val="C98A26"/>
                </a:solidFill>
                <a:latin typeface="Calibri Light"/>
              </a:defRPr>
            </a:pPr>
            <a:r>
              <a:t>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34930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C1C1C"/>
                </a:solidFill>
                <a:latin typeface="Calibri"/>
              </a:defRPr>
            </a:pPr>
            <a:r>
              <a:t>of instances are 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39136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No solver meaningfully faster</a:t>
            </a:r>
          </a:p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than the runner-up.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194560"/>
            <a:ext cx="3246120" cy="25146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94560"/>
            <a:ext cx="64008" cy="2514600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51460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5200" b="1" i="0">
                <a:solidFill>
                  <a:srgbClr val="C98A26"/>
                </a:solidFill>
                <a:latin typeface="Calibri Light"/>
              </a:defRPr>
            </a:pPr>
            <a:r>
              <a:t>14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930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1C1C1C"/>
                </a:solidFill>
                <a:latin typeface="Calibri"/>
              </a:defRPr>
            </a:pPr>
            <a:r>
              <a:t>median solve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913632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Design threshold is 50 ms.</a:t>
            </a:r>
          </a:p>
          <a:p>
            <a:pPr algn="l">
              <a:lnSpc>
                <a:spcPct val="125000"/>
              </a:lnSpc>
              <a:defRPr sz="1350" b="0" i="0">
                <a:solidFill>
                  <a:srgbClr val="54606B"/>
                </a:solidFill>
                <a:latin typeface="Calibri"/>
              </a:defRPr>
            </a:pPr>
            <a:r>
              <a:t>The corpus is 3.5× too easy.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 i="0">
                <a:solidFill>
                  <a:srgbClr val="1C1C1C"/>
                </a:solidFill>
                <a:latin typeface="Calibri"/>
              </a:defRPr>
            </a:pPr>
            <a:r>
              <a:t>Feature extraction alone costs 96 ms per instance — longer than the median instance takes to solve. The selector starts every easy formula already behind a baseline that computes nothing.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DIAGNOSIS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Why: the headroom is in the wrong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20440" y="20116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5B8DB8"/>
                </a:solidFill>
                <a:latin typeface="Calibri"/>
              </a:defRPr>
            </a:pPr>
            <a:r>
              <a:t>SHARE OF THE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0116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5B8DB8"/>
                </a:solidFill>
                <a:latin typeface="Calibri"/>
              </a:defRPr>
            </a:pPr>
            <a:r>
              <a:t>ROOM TO IMPROVE ON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1401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1" i="0">
                <a:solidFill>
                  <a:srgbClr val="1C1C1C"/>
                </a:solidFill>
                <a:latin typeface="Calibri"/>
              </a:defRPr>
            </a:pPr>
            <a:r>
              <a:t>scheduling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2395728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20440" y="2395728"/>
            <a:ext cx="2382588" cy="329184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423160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1C1C1C"/>
                </a:solidFill>
                <a:latin typeface="Calibri"/>
              </a:defRPr>
            </a:pPr>
            <a:r>
              <a:t>77%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2395728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52360" y="2395728"/>
            <a:ext cx="42255" cy="329184"/>
          </a:xfrm>
          <a:prstGeom prst="rect">
            <a:avLst/>
          </a:prstGeom>
          <a:solidFill>
            <a:srgbClr val="9AA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5328" y="242316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1C1C1C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8094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random3sat_large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962656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2962656"/>
            <a:ext cx="513639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3408" y="2990088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17%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2962656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2962656"/>
            <a:ext cx="1071932" cy="329184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5328" y="2990088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34%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47872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random3sat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3529584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20440" y="3529584"/>
            <a:ext cx="184166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3557016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3529584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529584"/>
            <a:ext cx="792694" cy="329184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25328" y="3557016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11480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colouring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4096512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20440" y="4096512"/>
            <a:ext cx="27432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3408" y="4123944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4096512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096512"/>
            <a:ext cx="2139350" cy="329184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25328" y="4123944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69%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681727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planning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4663440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4663440"/>
            <a:ext cx="27432" cy="329184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93408" y="4690872"/>
            <a:ext cx="685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4663440"/>
            <a:ext cx="3108960" cy="32918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4663440"/>
            <a:ext cx="1709203" cy="329184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25328" y="4690872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1C1C1C"/>
                </a:solidFill>
                <a:latin typeface="Calibri"/>
              </a:defRPr>
            </a:pPr>
            <a:r>
              <a:t>55%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440680"/>
            <a:ext cx="10607040" cy="41148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6692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defRPr sz="1600" b="0" i="0">
                <a:solidFill>
                  <a:srgbClr val="1C1C1C"/>
                </a:solidFill>
                <a:latin typeface="Calibri"/>
              </a:defRPr>
            </a:pPr>
            <a:r>
              <a:t>Scheduling carries 77% of the score but offers 1.4% room — cadical153 is already near-optimal there. The families with real room contribute under 1% of the score. Winning them changes nothing.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COMPONENT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What the experiment did establish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57984"/>
            <a:ext cx="64008" cy="960120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03120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16385A"/>
                </a:solidFill>
                <a:latin typeface="Calibri Light"/>
              </a:defRPr>
            </a:pPr>
            <a:r>
              <a:t>Designed features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560320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Replacing node features with constants costs 1.654 s of PAR-2 (2.303 → 3.956). The topology-only network collapses to naming one solver for everything.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93008"/>
            <a:ext cx="64008" cy="960120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438144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16385A"/>
                </a:solidFill>
                <a:latin typeface="Calibri Light"/>
              </a:defRPr>
            </a:pPr>
            <a:r>
              <a:t>Graph depth does not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895344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One, two and four message-passing layers differ by under 0.0002 s. The network is acting on its node features, not on the graph structure around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28031"/>
            <a:ext cx="64008" cy="960120"/>
          </a:xfrm>
          <a:prstGeom prst="rect">
            <a:avLst/>
          </a:prstGeom>
          <a:solidFill>
            <a:srgbClr val="5B8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4773168"/>
            <a:ext cx="10241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16385A"/>
                </a:solidFill>
                <a:latin typeface="Calibri Light"/>
              </a:defRPr>
            </a:pPr>
            <a:r>
              <a:t>Different failure modes out of distribution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5230368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defRPr sz="1500" b="0" i="0">
                <a:solidFill>
                  <a:srgbClr val="1C1C1C"/>
                </a:solidFill>
                <a:latin typeface="Calibri"/>
              </a:defRPr>
            </a:pPr>
            <a:r>
              <a:t>On the held-out family, our selector held at 36.3 s while the SATzilla-style baseline degraded to 52.0 s — though ours did so by making one constant choice, not by discriminating.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7220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54606B"/>
                </a:solidFill>
                <a:latin typeface="Calibri"/>
              </a:defRPr>
            </a:pPr>
            <a:r>
              <a:t>Probing features were also shown not to pay for themselves: removing them improved validation PAR-2 at one third of the extraction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49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 i="0">
                <a:solidFill>
                  <a:srgbClr val="8FA8C0"/>
                </a:solidFill>
                <a:latin typeface="Calibri"/>
              </a:defRPr>
            </a:pPr>
            <a:r>
              <a:t>WHERE THIS LEAVES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defRPr sz="3800" b="1" i="0">
                <a:solidFill>
                  <a:srgbClr val="FFFFFF"/>
                </a:solidFill>
                <a:latin typeface="Calibri Light"/>
              </a:defRPr>
            </a:pPr>
            <a:r>
              <a:t>We did not beat SATzilla.</a:t>
            </a:r>
          </a:p>
          <a:p>
            <a:pPr algn="l">
              <a:lnSpc>
                <a:spcPct val="122000"/>
              </a:lnSpc>
              <a:defRPr sz="3800" b="1" i="0">
                <a:solidFill>
                  <a:srgbClr val="FFFFFF"/>
                </a:solidFill>
                <a:latin typeface="Calibri Light"/>
              </a:defRPr>
            </a:pPr>
            <a:r>
              <a:t>We matched it — and neither of us</a:t>
            </a:r>
          </a:p>
          <a:p>
            <a:pPr algn="l">
              <a:lnSpc>
                <a:spcPct val="122000"/>
              </a:lnSpc>
              <a:defRPr sz="3800" b="1" i="0">
                <a:solidFill>
                  <a:srgbClr val="FFFFFF"/>
                </a:solidFill>
                <a:latin typeface="Calibri Light"/>
              </a:defRPr>
            </a:pPr>
            <a:r>
              <a:t>beat running one solver.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4434840"/>
            <a:ext cx="1737360" cy="45720"/>
          </a:xfrm>
          <a:prstGeom prst="rect">
            <a:avLst/>
          </a:prstGeom>
          <a:solidFill>
            <a:srgbClr val="C98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defRPr sz="1900" b="0" i="0">
                <a:solidFill>
                  <a:srgbClr val="C8D8E6"/>
                </a:solidFill>
                <a:latin typeface="Calibri"/>
              </a:defRPr>
            </a:pPr>
            <a:r>
              <a:t>The corpus, not the models, is the binding constraint. Two unrelated methods failed identically on a benchmark offering 8.9% headroom, 62% ties, and a 14 ms median instance. The result is measured, not estimated.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1" i="0">
                <a:solidFill>
                  <a:srgbClr val="5B8DB8"/>
                </a:solidFill>
                <a:latin typeface="Calibri"/>
              </a:defRPr>
            </a:pPr>
            <a:r>
              <a:t>FURTHER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8638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 i="0">
                <a:solidFill>
                  <a:srgbClr val="16385A"/>
                </a:solidFill>
                <a:latin typeface="Calibri Light"/>
              </a:defRPr>
            </a:pPr>
            <a:r>
              <a:t>What a next attempt would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371600" cy="41148"/>
          </a:xfrm>
          <a:prstGeom prst="rect">
            <a:avLst/>
          </a:prstGeom>
          <a:solidFill>
            <a:srgbClr val="A63D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93976"/>
            <a:ext cx="475488" cy="475488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Calibri Light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057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6385A"/>
                </a:solidFill>
                <a:latin typeface="Calibri Light"/>
              </a:defRPr>
            </a:pPr>
            <a:r>
              <a:t>Retarget corpus difficulty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59736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50" b="0" i="0">
                <a:solidFill>
                  <a:srgbClr val="54606B"/>
                </a:solidFill>
                <a:latin typeface="Calibri"/>
              </a:defRPr>
            </a:pPr>
            <a:r>
              <a:t>Calibrate generators to a 1–10 s median solve time and a tie rate under 30%, rather than for solvability alone. Everything else depends on this.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118104"/>
            <a:ext cx="475488" cy="475488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182112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Calibri Light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0815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6385A"/>
                </a:solidFill>
                <a:latin typeface="Calibri Light"/>
              </a:defRPr>
            </a:pPr>
            <a:r>
              <a:t>Rebalance the family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483864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50" b="0" i="0">
                <a:solidFill>
                  <a:srgbClr val="54606B"/>
                </a:solidFill>
                <a:latin typeface="Calibri"/>
              </a:defRPr>
            </a:pPr>
            <a:r>
              <a:t>Move effort to random3sat_large — the one family combining real weight with 34% headroom — and to a harder scheduling variant.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142232"/>
            <a:ext cx="475488" cy="475488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206240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Calibri Light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10565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6385A"/>
                </a:solidFill>
                <a:latin typeface="Calibri Light"/>
              </a:defRPr>
            </a:pPr>
            <a:r>
              <a:t>Select models on cross-validation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507992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50" b="0" i="0">
                <a:solidFill>
                  <a:srgbClr val="54606B"/>
                </a:solidFill>
                <a:latin typeface="Calibri"/>
              </a:defRPr>
            </a:pPr>
            <a:r>
              <a:t>A single 315-instance split chose the candidate that cross-validation ranked worst. This fix is independent of the corpus.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66360"/>
            <a:ext cx="475488" cy="475488"/>
          </a:xfrm>
          <a:prstGeom prst="rect">
            <a:avLst/>
          </a:prstGeom>
          <a:solidFill>
            <a:srgbClr val="163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230368"/>
            <a:ext cx="475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defRPr sz="1800" b="1" i="0">
                <a:solidFill>
                  <a:srgbClr val="FFFFFF"/>
                </a:solidFill>
                <a:latin typeface="Calibri Light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129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defRPr sz="2000" b="1" i="0">
                <a:solidFill>
                  <a:srgbClr val="16385A"/>
                </a:solidFill>
                <a:latin typeface="Calibri Light"/>
              </a:defRPr>
            </a:pPr>
            <a:r>
              <a:t>Compare on an established benchmark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5532120"/>
            <a:ext cx="99669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defRPr sz="1450" b="0" i="0">
                <a:solidFill>
                  <a:srgbClr val="54606B"/>
                </a:solidFill>
                <a:latin typeface="Calibri"/>
              </a:defRPr>
            </a:pPr>
            <a:r>
              <a:t>Running the same selectors on an ASlib scenario would separate corpus effects from model effects directly.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636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54606B"/>
                </a:solidFill>
                <a:latin typeface="Calibri"/>
              </a:defRPr>
            </a:pPr>
            <a:r>
              <a:t>Full report, all statistics, and the complete data package: sat-solver-selection-report.pdf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